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0" r:id="rId4"/>
  </p:sldMasterIdLst>
  <p:notesMasterIdLst>
    <p:notesMasterId r:id="rId14"/>
  </p:notesMasterIdLst>
  <p:handoutMasterIdLst>
    <p:handoutMasterId r:id="rId15"/>
  </p:handoutMasterIdLst>
  <p:sldIdLst>
    <p:sldId id="292" r:id="rId5"/>
    <p:sldId id="286" r:id="rId6"/>
    <p:sldId id="287" r:id="rId7"/>
    <p:sldId id="288" r:id="rId8"/>
    <p:sldId id="296" r:id="rId9"/>
    <p:sldId id="297" r:id="rId10"/>
    <p:sldId id="298" r:id="rId11"/>
    <p:sldId id="290" r:id="rId12"/>
    <p:sldId id="29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E579CFC-F3DF-4965-A41D-1590358C1454}" type="datetime1">
              <a:rPr lang="es-MX" smtClean="0"/>
              <a:t>11/10/2026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8FBD93F-F02D-450A-B770-AD465E68CA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69923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9369CC-EEE7-46C8-8C0B-412F1578954C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Haz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B040C8-62D2-4EA7-B200-D3B8C06AAFD8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8C4EDB0-F400-4984-9289-37CD44FD306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3413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70515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7710382-8A88-4D70-BE6D-5067EF51E00E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4272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BEB036-510A-4CD6-ABF9-4A067A4FD7B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14723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2310686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C0A6EA4-B481-452E-8743-13AAC8237C40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45670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451DC5C-61DD-48C3-9A9B-A69DE46ED77A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4283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6CAE48-6BE8-4F12-B510-C76721BF3FF5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649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121193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644180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7898919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58518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323454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8673652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7427503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008E10F-89D0-4085-9A29-D8CE199A12D9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989502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BD26467-AC2C-4331-9887-A42FA94B44DE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A7A6979-0714-4377-B894-6BE4C2D6E20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56012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3C7A6243-EDAF-4602-9428-BF69DF5650DB}" type="datetime1">
              <a:rPr lang="es-MX" noProof="0" smtClean="0"/>
              <a:t>11/10/2026</a:t>
            </a:fld>
            <a:endParaRPr lang="es-MX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es-MX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A7A6979-0714-4377-B894-6BE4C2D6E202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22707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24F9E26-F202-9B86-DB1F-C0A6212A7CC2}"/>
              </a:ext>
            </a:extLst>
          </p:cNvPr>
          <p:cNvSpPr/>
          <p:nvPr/>
        </p:nvSpPr>
        <p:spPr>
          <a:xfrm>
            <a:off x="0" y="0"/>
            <a:ext cx="2219325" cy="1133475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9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FCC94F4-C31E-F9F5-35C7-0650F571CA8B}"/>
              </a:ext>
            </a:extLst>
          </p:cNvPr>
          <p:cNvSpPr/>
          <p:nvPr/>
        </p:nvSpPr>
        <p:spPr>
          <a:xfrm>
            <a:off x="-32057" y="5788284"/>
            <a:ext cx="2219325" cy="1586090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99000"/>
                      </a14:imgEffect>
                    </a14:imgLayer>
                  </a14:imgProps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29B78F6-9546-C7CD-6A9E-62A746841581}"/>
              </a:ext>
            </a:extLst>
          </p:cNvPr>
          <p:cNvSpPr/>
          <p:nvPr/>
        </p:nvSpPr>
        <p:spPr>
          <a:xfrm>
            <a:off x="9972675" y="0"/>
            <a:ext cx="2219325" cy="1133475"/>
          </a:xfrm>
          <a:prstGeom prst="rect">
            <a:avLst/>
          </a:prstGeom>
          <a:blipFill dpi="0"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  <a14:imgEffect>
                        <a14:brightnessContrast bright="-4000"/>
                      </a14:imgEffect>
                    </a14:imgLayer>
                  </a14:imgProps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  <a:effectLst>
            <a:glow>
              <a:schemeClr val="accent1">
                <a:alpha val="40000"/>
              </a:schemeClr>
            </a:glow>
            <a:outerShdw blurRad="63500" dist="50800" dir="5400000" algn="ctr" rotWithShape="0">
              <a:srgbClr val="000000">
                <a:alpha val="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47F893-AAC5-7774-C09E-057C6B92FF6F}"/>
              </a:ext>
            </a:extLst>
          </p:cNvPr>
          <p:cNvSpPr txBox="1"/>
          <p:nvPr/>
        </p:nvSpPr>
        <p:spPr>
          <a:xfrm>
            <a:off x="3027961" y="613076"/>
            <a:ext cx="555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INSTITUTO TECNOLÒGICO DE FRONTERA COMALAPA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B26ED1-5D18-8F75-5997-F69CAD99FC1D}"/>
              </a:ext>
            </a:extLst>
          </p:cNvPr>
          <p:cNvSpPr txBox="1"/>
          <p:nvPr/>
        </p:nvSpPr>
        <p:spPr>
          <a:xfrm>
            <a:off x="4697582" y="1133475"/>
            <a:ext cx="2559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QUINTO SEMESTRE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203422-ED72-B222-6802-218069D6E875}"/>
              </a:ext>
            </a:extLst>
          </p:cNvPr>
          <p:cNvSpPr txBox="1"/>
          <p:nvPr/>
        </p:nvSpPr>
        <p:spPr>
          <a:xfrm>
            <a:off x="3384747" y="1688105"/>
            <a:ext cx="5010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INGENIERÌA EN SISTEMAS COMPUTACIONALES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875B60-111E-6685-F4FC-865EE1C7AEA3}"/>
              </a:ext>
            </a:extLst>
          </p:cNvPr>
          <p:cNvSpPr txBox="1"/>
          <p:nvPr/>
        </p:nvSpPr>
        <p:spPr>
          <a:xfrm>
            <a:off x="3687097" y="2320855"/>
            <a:ext cx="6285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MATERIA: FUNDAMENTOS DE INGENIERIA DE SOFTWARE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777CBC1-45D4-56C8-1571-571402FC4399}"/>
              </a:ext>
            </a:extLst>
          </p:cNvPr>
          <p:cNvSpPr txBox="1">
            <a:spLocks/>
          </p:cNvSpPr>
          <p:nvPr/>
        </p:nvSpPr>
        <p:spPr>
          <a:xfrm>
            <a:off x="2213275" y="2908668"/>
            <a:ext cx="7213754" cy="886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</a:t>
            </a:r>
            <a:b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CLASE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F274C131-E11B-2225-0AEA-7724E07DC7CB}"/>
              </a:ext>
            </a:extLst>
          </p:cNvPr>
          <p:cNvSpPr txBox="1">
            <a:spLocks/>
          </p:cNvSpPr>
          <p:nvPr/>
        </p:nvSpPr>
        <p:spPr>
          <a:xfrm>
            <a:off x="2909757" y="4478860"/>
            <a:ext cx="7333699" cy="158609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MX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ALUMNO: DARVIN YERIEL ROBLERO GONZALEZ</a:t>
            </a:r>
          </a:p>
          <a:p>
            <a:endParaRPr lang="es-MX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680720" marR="502285">
              <a:spcBef>
                <a:spcPts val="925"/>
              </a:spcBef>
            </a:pPr>
            <a:r>
              <a:rPr lang="es-MX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DOCENTE: </a:t>
            </a:r>
            <a:r>
              <a:rPr lang="es-ES" sz="1800" b="1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ING. FRANCISCO JAVIER MINGO VELÁZQUEZ</a:t>
            </a:r>
            <a:endParaRPr lang="es-MX" sz="1800" b="1" dirty="0"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680720" marR="502285">
              <a:spcBef>
                <a:spcPts val="925"/>
              </a:spcBef>
            </a:pPr>
            <a:r>
              <a:rPr lang="es-ES" sz="1800" dirty="0">
                <a:latin typeface="Arial MT"/>
                <a:ea typeface="Arial MT"/>
                <a:cs typeface="Arial MT"/>
              </a:rPr>
              <a:t> </a:t>
            </a:r>
            <a:endParaRPr lang="es-MX" sz="1800" dirty="0">
              <a:latin typeface="Arial MT"/>
              <a:ea typeface="Arial MT"/>
              <a:cs typeface="Arial MT"/>
            </a:endParaRPr>
          </a:p>
          <a:p>
            <a:endParaRPr lang="es-MX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s-MX" sz="12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es-MX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B46020A-CE7D-DE84-BC2D-AACE5E5FE6D3}"/>
              </a:ext>
            </a:extLst>
          </p:cNvPr>
          <p:cNvSpPr txBox="1"/>
          <p:nvPr/>
        </p:nvSpPr>
        <p:spPr>
          <a:xfrm>
            <a:off x="4697582" y="5788284"/>
            <a:ext cx="677192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FRONTERA COMALAPA, CHIAPAS A </a:t>
            </a:r>
            <a:r>
              <a:rPr lang="es-ES" sz="1600" b="1" dirty="0">
                <a:latin typeface="Arial" panose="020B0604020202020204" pitchFamily="34" charset="0"/>
                <a:ea typeface="Arial" panose="020B0604020202020204" pitchFamily="34" charset="0"/>
              </a:rPr>
              <a:t>11</a:t>
            </a:r>
            <a:r>
              <a:rPr lang="es-ES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OCCTUBRE DEL 2026</a:t>
            </a:r>
            <a:endParaRPr lang="es-MX" sz="16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br>
              <a:rPr lang="es-E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7CAB42E-565F-F70C-0E8B-09BDC29301FF}"/>
              </a:ext>
            </a:extLst>
          </p:cNvPr>
          <p:cNvSpPr txBox="1"/>
          <p:nvPr/>
        </p:nvSpPr>
        <p:spPr>
          <a:xfrm>
            <a:off x="4269879" y="4014411"/>
            <a:ext cx="3369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NO. CONTROL: 241260007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5EBDFD-9B6C-25D8-0740-872D5C7A5929}"/>
              </a:ext>
            </a:extLst>
          </p:cNvPr>
          <p:cNvSpPr txBox="1"/>
          <p:nvPr/>
        </p:nvSpPr>
        <p:spPr>
          <a:xfrm>
            <a:off x="3316596" y="127424"/>
            <a:ext cx="555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TECNM TECNOLÓGICO NACIONAL DE MÉXICO</a:t>
            </a:r>
          </a:p>
        </p:txBody>
      </p:sp>
    </p:spTree>
    <p:extLst>
      <p:ext uri="{BB962C8B-B14F-4D97-AF65-F5344CB8AC3E}">
        <p14:creationId xmlns:p14="http://schemas.microsoft.com/office/powerpoint/2010/main" val="175581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A4CB3-FF79-5567-07C3-D85A7E56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60" y="108373"/>
            <a:ext cx="4165580" cy="68868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s-MX" sz="4200" b="1" noProof="0" dirty="0"/>
              <a:t>INTRODUCCIÓN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7B544F-5EF6-664C-9F3E-EA1D48697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5249" y="1019724"/>
            <a:ext cx="4686160" cy="2689917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s-MX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En el presente reporte les mostraremos lo que avanzamos en la clase y comprender los temas que veremos durante todo el modulo.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59EC682-1C45-191A-0122-5EF8B0F45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626" y="0"/>
            <a:ext cx="6484374" cy="372219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55A696A-CDDD-44DA-1B0C-4F52BA63A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625" y="3722196"/>
            <a:ext cx="6484374" cy="311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3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8B290-3D6F-4B15-2A82-FEC4C2A2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78" y="76201"/>
            <a:ext cx="5092906" cy="674914"/>
          </a:xfrm>
        </p:spPr>
        <p:txBody>
          <a:bodyPr/>
          <a:lstStyle/>
          <a:p>
            <a:pPr algn="ctr"/>
            <a:r>
              <a:rPr lang="es-MX" b="1" dirty="0"/>
              <a:t>JUSTIFICACIÓN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3445EC-F5EA-E657-C1AB-DADE25093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097" y="1197427"/>
            <a:ext cx="6671874" cy="5046057"/>
          </a:xfrm>
        </p:spPr>
        <p:txBody>
          <a:bodyPr>
            <a:noAutofit/>
          </a:bodyPr>
          <a:lstStyle/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Se realizo esta practica para tener evidencia de que si se esta trabajando en la clase y podemos ver nuestras dudas que surjan y así el profesor nos ayudara a resolver cada inconsistencia que nos presente durante las actividades.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E8B80EB-D911-990C-FC00-83433DE00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541" y="1496744"/>
            <a:ext cx="4806678" cy="330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5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adroTexto 31">
            <a:extLst>
              <a:ext uri="{FF2B5EF4-FFF2-40B4-BE49-F238E27FC236}">
                <a16:creationId xmlns:a16="http://schemas.microsoft.com/office/drawing/2014/main" id="{49AE273C-682F-783A-B1D3-E8CE2C33A000}"/>
              </a:ext>
            </a:extLst>
          </p:cNvPr>
          <p:cNvSpPr txBox="1"/>
          <p:nvPr/>
        </p:nvSpPr>
        <p:spPr>
          <a:xfrm>
            <a:off x="3688189" y="122766"/>
            <a:ext cx="362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Instalación del Programa Api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481F29-8535-C024-013B-8AC628F1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717"/>
            <a:ext cx="5348748" cy="30086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0161EEA-66DF-ACE8-3829-68F6CD6D0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186" y="786717"/>
            <a:ext cx="5535561" cy="311375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EE13070-800D-B17D-FFE6-DDEF608A9EAA}"/>
              </a:ext>
            </a:extLst>
          </p:cNvPr>
          <p:cNvSpPr txBox="1"/>
          <p:nvPr/>
        </p:nvSpPr>
        <p:spPr>
          <a:xfrm>
            <a:off x="182989" y="4090007"/>
            <a:ext cx="3626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Ingresamos a internet y en esta pagina configuramos los archivos que vamos a generar para poder descargar de forma adecuada.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4090FF-2324-43C2-F3AE-96C58AE1BBE7}"/>
              </a:ext>
            </a:extLst>
          </p:cNvPr>
          <p:cNvSpPr txBox="1"/>
          <p:nvPr/>
        </p:nvSpPr>
        <p:spPr>
          <a:xfrm>
            <a:off x="6863484" y="4090007"/>
            <a:ext cx="3626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después agregamos todos los paquetes que nos servirán para hacer que nuestro proyecto funcione correctamente.</a:t>
            </a:r>
          </a:p>
        </p:txBody>
      </p:sp>
    </p:spTree>
    <p:extLst>
      <p:ext uri="{BB962C8B-B14F-4D97-AF65-F5344CB8AC3E}">
        <p14:creationId xmlns:p14="http://schemas.microsoft.com/office/powerpoint/2010/main" val="368562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5855-5ACC-219B-82AF-5FC914C7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adroTexto 31">
            <a:extLst>
              <a:ext uri="{FF2B5EF4-FFF2-40B4-BE49-F238E27FC236}">
                <a16:creationId xmlns:a16="http://schemas.microsoft.com/office/drawing/2014/main" id="{95F477C8-F612-0653-400C-51ABDAB9B390}"/>
              </a:ext>
            </a:extLst>
          </p:cNvPr>
          <p:cNvSpPr txBox="1"/>
          <p:nvPr/>
        </p:nvSpPr>
        <p:spPr>
          <a:xfrm>
            <a:off x="3688189" y="122766"/>
            <a:ext cx="362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Instalación del Programa Api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A9356B-AADE-74E2-05F4-9D093E46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842"/>
            <a:ext cx="5658339" cy="31828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BC9511B-1AEE-0F6A-9BBC-ABBEA4EE1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73842"/>
            <a:ext cx="5658339" cy="318281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D6E4ADD-8946-BD5F-1DE3-4CF4506EC5BF}"/>
              </a:ext>
            </a:extLst>
          </p:cNvPr>
          <p:cNvSpPr txBox="1"/>
          <p:nvPr/>
        </p:nvSpPr>
        <p:spPr>
          <a:xfrm>
            <a:off x="173155" y="4253736"/>
            <a:ext cx="11183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Una vez ya generado descargamos en archivo RAR y desde ese archivo lo extraemos desde la carpeta donde tenemos todos nuestros proyectos en Intellij. </a:t>
            </a:r>
          </a:p>
        </p:txBody>
      </p:sp>
    </p:spTree>
    <p:extLst>
      <p:ext uri="{BB962C8B-B14F-4D97-AF65-F5344CB8AC3E}">
        <p14:creationId xmlns:p14="http://schemas.microsoft.com/office/powerpoint/2010/main" val="271011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4CD76-DE0E-31DD-04E6-D009B814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adroTexto 31">
            <a:extLst>
              <a:ext uri="{FF2B5EF4-FFF2-40B4-BE49-F238E27FC236}">
                <a16:creationId xmlns:a16="http://schemas.microsoft.com/office/drawing/2014/main" id="{FF41C3CE-ADFF-4381-36B5-FE27AB19BE8F}"/>
              </a:ext>
            </a:extLst>
          </p:cNvPr>
          <p:cNvSpPr txBox="1"/>
          <p:nvPr/>
        </p:nvSpPr>
        <p:spPr>
          <a:xfrm>
            <a:off x="3688189" y="122766"/>
            <a:ext cx="362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Instalación del Programa Api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89E540-D654-3C59-5008-D74E73780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901"/>
            <a:ext cx="5627077" cy="316523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1F1BCD-4460-D47F-5554-BD5972B07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3335"/>
            <a:ext cx="5697416" cy="320479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FE11FEC-A879-FFA5-6A7F-99F8910D77A7}"/>
              </a:ext>
            </a:extLst>
          </p:cNvPr>
          <p:cNvSpPr txBox="1"/>
          <p:nvPr/>
        </p:nvSpPr>
        <p:spPr>
          <a:xfrm>
            <a:off x="173155" y="4253736"/>
            <a:ext cx="11183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Ya guardado, abrimos el programa de Intellij y en open buscamos desde nuestra carpeta la que guardamos y procedemos a ejecutarlo para seguir configurando nuestro proyecto.</a:t>
            </a:r>
          </a:p>
        </p:txBody>
      </p:sp>
    </p:spTree>
    <p:extLst>
      <p:ext uri="{BB962C8B-B14F-4D97-AF65-F5344CB8AC3E}">
        <p14:creationId xmlns:p14="http://schemas.microsoft.com/office/powerpoint/2010/main" val="55524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A31DE-1245-4626-5B26-877716ED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adroTexto 31">
            <a:extLst>
              <a:ext uri="{FF2B5EF4-FFF2-40B4-BE49-F238E27FC236}">
                <a16:creationId xmlns:a16="http://schemas.microsoft.com/office/drawing/2014/main" id="{2F54D631-4C5C-273E-AF79-D83844BC69FC}"/>
              </a:ext>
            </a:extLst>
          </p:cNvPr>
          <p:cNvSpPr txBox="1"/>
          <p:nvPr/>
        </p:nvSpPr>
        <p:spPr>
          <a:xfrm>
            <a:off x="3688189" y="122766"/>
            <a:ext cx="362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Instalación del Programa Api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3C018A-FE06-DBAA-738A-A3ED2E034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334" y="653577"/>
            <a:ext cx="7196673" cy="404812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108A755-B1A6-DDA6-E834-517A5742D1F0}"/>
              </a:ext>
            </a:extLst>
          </p:cNvPr>
          <p:cNvSpPr txBox="1"/>
          <p:nvPr/>
        </p:nvSpPr>
        <p:spPr>
          <a:xfrm>
            <a:off x="320639" y="4863184"/>
            <a:ext cx="11183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luego procedimos a crear  paquetes y clases que nos servirán para poder crear el proyecto que realizaremos durante la primera unidad.</a:t>
            </a:r>
          </a:p>
        </p:txBody>
      </p:sp>
    </p:spTree>
    <p:extLst>
      <p:ext uri="{BB962C8B-B14F-4D97-AF65-F5344CB8AC3E}">
        <p14:creationId xmlns:p14="http://schemas.microsoft.com/office/powerpoint/2010/main" val="406284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D6569-4B4E-5A0F-C352-A595B53A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256423" cy="1641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CONCLUSIÓN</a:t>
            </a:r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0F432BFF-CCC6-3D84-7F56-F3751789B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1055" y="1600200"/>
            <a:ext cx="6258737" cy="38099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Para concluir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lo que les mostramos hicimos en clase y quedo de tarea seguir agregando los códigos correspondientes y también realizar las actividades que dice la instrumentación didáctica de manera teórica ya que la practica de avanza los domingos en clase.</a:t>
            </a:r>
            <a:endParaRPr lang="es-MX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C2B471-973D-2E97-A8C3-5B5345A0F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01" y="-4916"/>
            <a:ext cx="3595240" cy="2332703"/>
          </a:xfrm>
          <a:prstGeom prst="rect">
            <a:avLst/>
          </a:prstGeom>
        </p:spPr>
      </p:pic>
      <p:pic>
        <p:nvPicPr>
          <p:cNvPr id="5" name="Imagen 4" descr="Las 10 principales bibliotecas y herramientas Java para el aprendizaje ...">
            <a:extLst>
              <a:ext uri="{FF2B5EF4-FFF2-40B4-BE49-F238E27FC236}">
                <a16:creationId xmlns:a16="http://schemas.microsoft.com/office/drawing/2014/main" id="{B408E48A-0538-5F4C-D16B-49D41251B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02" y="2618494"/>
            <a:ext cx="4479043" cy="357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04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CE7C8-E187-A679-9F52-32232D6B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79E6B-7FB5-38A9-0247-634E0D67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290200"/>
            <a:ext cx="3991721" cy="8626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Link GitHub</a:t>
            </a:r>
          </a:p>
        </p:txBody>
      </p:sp>
      <p:pic>
        <p:nvPicPr>
          <p:cNvPr id="4" name="Imagen 3" descr="Qué es Github y sus características principales">
            <a:extLst>
              <a:ext uri="{FF2B5EF4-FFF2-40B4-BE49-F238E27FC236}">
                <a16:creationId xmlns:a16="http://schemas.microsoft.com/office/drawing/2014/main" id="{ED224277-4DE8-315D-42ED-0CA5CE14A5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24" r="1500"/>
          <a:stretch>
            <a:fillRect/>
          </a:stretch>
        </p:blipFill>
        <p:spPr>
          <a:xfrm>
            <a:off x="594120" y="634712"/>
            <a:ext cx="7045545" cy="55781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B673F4E-BEE1-A089-8A28-EB708549D237}"/>
              </a:ext>
            </a:extLst>
          </p:cNvPr>
          <p:cNvSpPr txBox="1"/>
          <p:nvPr/>
        </p:nvSpPr>
        <p:spPr>
          <a:xfrm>
            <a:off x="5653549" y="35216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CFE1675-D570-4855-E79F-120C0AB8FC8E}"/>
              </a:ext>
            </a:extLst>
          </p:cNvPr>
          <p:cNvSpPr txBox="1"/>
          <p:nvPr/>
        </p:nvSpPr>
        <p:spPr>
          <a:xfrm>
            <a:off x="8068100" y="3244645"/>
            <a:ext cx="3529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/>
              <a:t>https://github.com/Darvin14-Roblero/FIDS-Clase1.git</a:t>
            </a:r>
          </a:p>
        </p:txBody>
      </p:sp>
    </p:spTree>
    <p:extLst>
      <p:ext uri="{BB962C8B-B14F-4D97-AF65-F5344CB8AC3E}">
        <p14:creationId xmlns:p14="http://schemas.microsoft.com/office/powerpoint/2010/main" val="40606574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009F5EF-575C-40E7-A9C5-EC1F2A554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451F4C-A3A1-4FF3-AEA5-AE3EFF175B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775A23-75CA-4614-9647-C9B2CE742CA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369</TotalTime>
  <Words>311</Words>
  <Application>Microsoft Office PowerPoint</Application>
  <PresentationFormat>Panorámica</PresentationFormat>
  <Paragraphs>31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MT</vt:lpstr>
      <vt:lpstr>Calibri</vt:lpstr>
      <vt:lpstr>Century Gothic</vt:lpstr>
      <vt:lpstr>Wingdings 3</vt:lpstr>
      <vt:lpstr>Ion</vt:lpstr>
      <vt:lpstr>Presentación de PowerPoint</vt:lpstr>
      <vt:lpstr>INTRODUCCIÓN</vt:lpstr>
      <vt:lpstr>JUSTIFICACIÓN</vt:lpstr>
      <vt:lpstr>Presentación de PowerPoint</vt:lpstr>
      <vt:lpstr>Presentación de PowerPoint</vt:lpstr>
      <vt:lpstr>Presentación de PowerPoint</vt:lpstr>
      <vt:lpstr>Presentación de PowerPoint</vt:lpstr>
      <vt:lpstr>CONCLUSIÓN</vt:lpstr>
      <vt:lpstr>Link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DARVIN ROBLERO GONZALEZ</dc:creator>
  <cp:lastModifiedBy>DARVIN ROBLERO GONZALEZ</cp:lastModifiedBy>
  <cp:revision>11</cp:revision>
  <dcterms:created xsi:type="dcterms:W3CDTF">2025-08-09T04:53:33Z</dcterms:created>
  <dcterms:modified xsi:type="dcterms:W3CDTF">2026-10-12T03:51:02Z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